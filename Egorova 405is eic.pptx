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  <a:srgbClr val="9D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06" autoAdjust="0"/>
  </p:normalViewPr>
  <p:slideViewPr>
    <p:cSldViewPr snapToGrid="0">
      <p:cViewPr varScale="1">
        <p:scale>
          <a:sx n="42" d="100"/>
          <a:sy n="42" d="100"/>
        </p:scale>
        <p:origin x="72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8658A-8C2A-4EF5-8BC4-5F018E6574CA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094BD-0A2C-49D1-AEC5-52E3A5610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74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094BD-0A2C-49D1-AEC5-52E3A5610BC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759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094BD-0A2C-49D1-AEC5-52E3A5610BC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395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094BD-0A2C-49D1-AEC5-52E3A5610BC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36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8AED3-4DF4-4EBD-96A8-55290CE6A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48D1FA-6CAD-4A60-8219-197745192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D532B-BC58-4710-AF48-66448C22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C4F0CB-8B04-49D3-8E48-B20CDC70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270A1F-8259-4B57-B547-0C1A2822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32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BEF8B-3FD0-4920-854A-2D3745F6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0465F4-DE1C-4CF4-BE1C-B768A39B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E8E469-4134-40C7-B515-3175BE67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78CD20-E712-4A34-A7AE-3E3814BB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37752C-AF4F-43A3-BB4F-D25CEBCF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71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8CBF1-BE00-4BC9-A7BE-ECDB3815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1D9A66-7CBB-4E0D-A497-9690AAC37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B478F3-9B7E-42C5-9D6A-B4B354D9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966AD9-8A31-4BE8-95EE-43ED808A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294117-BA70-47A3-BCB1-CBAE70A6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521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9F519-9C48-43DE-B30A-BA4012F5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5C38D8-855A-4C04-8E59-53FF1CE7E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3C9282-492E-4550-A786-21C1C99E7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00485B-C00E-45C9-B826-CE410311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67064B-07EA-4F03-875A-2E5AFACA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D7F423-5071-443E-B8A8-E17070CA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7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9EFEC-E62B-4F63-A41E-6354C590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6EDB05-673E-460B-9CD7-E4CE9A816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489BDC-D630-43E1-AADD-8CD975203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15F9-2F91-4B8C-BE34-C682C2FB0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3C03C7A-1273-4950-85AC-8B1F09007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472462-9B56-4CDA-A222-B31C5B0D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584C3BF-3A4C-4AF5-AD1D-C173F70D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652E2A-4ED1-41A3-9916-DC2C62D3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82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E27B8-64E7-45BF-BB8B-F0616F07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E286F8-161F-4EC6-A938-519CF54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768D4D-56BF-4F4E-9F88-BEA72E33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00D58C-2658-4470-829F-1712653B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53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0AB23D0-C208-4498-8050-96EA75E5A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0A9C58-04D8-4660-9F5C-86D35AAE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09240D-7E48-4411-A871-F0489846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59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EA4A1-AFED-4513-B6F1-421C68A0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41A206-27B5-4FB4-9CFD-0662E6EE9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95B0BF-D717-46A5-8BED-DDC1D60E5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95F53F-B6B7-4D9E-AB49-D76D94CB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BB5A21-3233-48D9-88A8-8822EBBF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51741F-417A-4BE3-9589-7997ACA8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04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8CF9D-439E-4426-97BE-D80C93C6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65CE8F-5850-4E83-BC32-FF2D2FC90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E1082C-B4B2-4530-811A-4FB58817A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4F1B12-D232-4823-AF4F-CBBAD13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C473D2-66A7-4B89-A379-825181D5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78962D-16C8-4AE4-BD64-3ACD474A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2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9FB56-3778-4FF5-9B7A-EC27B2E6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8A558C-4320-48A2-8F8A-533783D89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B672B1-10A6-461C-842D-0CC795A8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AD9533-6AC4-4EE3-A9ED-B78DA7BF4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2B66B0-288C-415E-9EB7-E47C927A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70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5F463A1-A80D-4DF8-A82F-B64EDD6ED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00AC3C-FF3F-496D-8219-D3A67CA69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DAFA8E-55D3-4211-B547-FBE7C00F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40E39B-41DD-4BC5-8F85-53066B26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6C2EC0-26D5-4978-85C8-00D37822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37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1BA3E-D430-4187-87B7-BA8D1C533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20AC99-5E9F-4FC4-AE8D-0354964D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E7B0E2-EFA4-459D-B827-14A910FEE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3384D-BEE5-48C4-83D7-03C49359562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EE8123-F2F5-4BE9-934A-6F709AAAB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9896B-C03F-4022-9572-ED8346734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F6D10-DE3D-4B14-8D27-522822F37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58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C41BED-E675-46AB-AB7A-890C517B7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653AE-6843-46F5-87D3-D8AE69156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434343"/>
                </a:solidFill>
              </a:rPr>
              <a:t>Индивидуальный проект по мобильной разработке </a:t>
            </a:r>
            <a:br>
              <a:rPr lang="ru-RU" dirty="0">
                <a:solidFill>
                  <a:srgbClr val="434343"/>
                </a:solidFill>
              </a:rPr>
            </a:br>
            <a:r>
              <a:rPr lang="ru-RU" dirty="0">
                <a:solidFill>
                  <a:srgbClr val="434343"/>
                </a:solidFill>
              </a:rPr>
              <a:t>«</a:t>
            </a:r>
            <a:r>
              <a:rPr lang="en-US" dirty="0">
                <a:solidFill>
                  <a:srgbClr val="434343"/>
                </a:solidFill>
              </a:rPr>
              <a:t>EIC</a:t>
            </a:r>
            <a:r>
              <a:rPr lang="ru-RU" dirty="0">
                <a:solidFill>
                  <a:srgbClr val="434343"/>
                </a:solidFill>
              </a:rPr>
              <a:t>»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F4379CC-2149-4D16-9C9A-C3F4A58F77FC}"/>
              </a:ext>
            </a:extLst>
          </p:cNvPr>
          <p:cNvSpPr/>
          <p:nvPr/>
        </p:nvSpPr>
        <p:spPr>
          <a:xfrm>
            <a:off x="576943" y="5901267"/>
            <a:ext cx="11038114" cy="1801284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2594316B-0238-49D6-84CB-2373A949E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7350" y="5981171"/>
            <a:ext cx="9144000" cy="1122362"/>
          </a:xfrm>
        </p:spPr>
        <p:txBody>
          <a:bodyPr/>
          <a:lstStyle/>
          <a:p>
            <a:r>
              <a:rPr lang="ru-RU" dirty="0">
                <a:solidFill>
                  <a:srgbClr val="9DD9B5"/>
                </a:solidFill>
              </a:rPr>
              <a:t>Егорова</a:t>
            </a:r>
            <a:r>
              <a:rPr lang="ru-RU" dirty="0"/>
              <a:t> </a:t>
            </a:r>
            <a:r>
              <a:rPr lang="ru-RU" dirty="0">
                <a:solidFill>
                  <a:srgbClr val="9DD9B5"/>
                </a:solidFill>
              </a:rPr>
              <a:t>Алиса 405ИС</a:t>
            </a:r>
          </a:p>
        </p:txBody>
      </p:sp>
    </p:spTree>
    <p:extLst>
      <p:ext uri="{BB962C8B-B14F-4D97-AF65-F5344CB8AC3E}">
        <p14:creationId xmlns:p14="http://schemas.microsoft.com/office/powerpoint/2010/main" val="116546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925F2-48BE-4D1D-80D6-D07F4E1C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C1EBFE-A51B-4CC7-8E7A-BBC729802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F4D67D-B087-41DE-AD5C-D59DAF198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033031C-90E2-40C9-8235-9D1DA1C11F5C}"/>
              </a:ext>
            </a:extLst>
          </p:cNvPr>
          <p:cNvSpPr/>
          <p:nvPr/>
        </p:nvSpPr>
        <p:spPr>
          <a:xfrm>
            <a:off x="576943" y="-897467"/>
            <a:ext cx="11038114" cy="2042055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36841D69-B9DE-4110-8FBA-37811E7387A4}"/>
              </a:ext>
            </a:extLst>
          </p:cNvPr>
          <p:cNvSpPr txBox="1">
            <a:spLocks/>
          </p:cNvSpPr>
          <p:nvPr/>
        </p:nvSpPr>
        <p:spPr>
          <a:xfrm>
            <a:off x="1524000" y="288158"/>
            <a:ext cx="9144000" cy="688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9DD9B5"/>
                </a:solidFill>
              </a:rPr>
              <a:t>EIC - Educational Information Center </a:t>
            </a:r>
            <a:endParaRPr lang="ru-RU" dirty="0">
              <a:solidFill>
                <a:srgbClr val="9DD9B5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6073778-5EB7-43B7-9F82-7593F89DDF59}"/>
              </a:ext>
            </a:extLst>
          </p:cNvPr>
          <p:cNvSpPr/>
          <p:nvPr/>
        </p:nvSpPr>
        <p:spPr>
          <a:xfrm>
            <a:off x="576943" y="2227340"/>
            <a:ext cx="11038114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859FFCF-E38D-41B7-9CD8-F6710C52DD2A}"/>
              </a:ext>
            </a:extLst>
          </p:cNvPr>
          <p:cNvSpPr/>
          <p:nvPr/>
        </p:nvSpPr>
        <p:spPr>
          <a:xfrm>
            <a:off x="576943" y="3808190"/>
            <a:ext cx="11038114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BFBA116-CD51-4707-865C-FD4A3041E43B}"/>
              </a:ext>
            </a:extLst>
          </p:cNvPr>
          <p:cNvSpPr/>
          <p:nvPr/>
        </p:nvSpPr>
        <p:spPr>
          <a:xfrm>
            <a:off x="576943" y="5323986"/>
            <a:ext cx="11038114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79BEDB2-E361-4B5D-8BBA-115BF706DA3A}"/>
              </a:ext>
            </a:extLst>
          </p:cNvPr>
          <p:cNvSpPr/>
          <p:nvPr/>
        </p:nvSpPr>
        <p:spPr>
          <a:xfrm>
            <a:off x="576943" y="681038"/>
            <a:ext cx="947057" cy="5738550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34343"/>
              </a:solidFill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8B13EF08-1FAC-4AFF-BDCC-7A4370382F00}"/>
              </a:ext>
            </a:extLst>
          </p:cNvPr>
          <p:cNvSpPr txBox="1">
            <a:spLocks/>
          </p:cNvSpPr>
          <p:nvPr/>
        </p:nvSpPr>
        <p:spPr>
          <a:xfrm>
            <a:off x="1619250" y="10184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434343"/>
                </a:solidFill>
              </a:rPr>
              <a:t>Цель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F224A259-5A15-42EC-8C4A-055FF27E27C9}"/>
              </a:ext>
            </a:extLst>
          </p:cNvPr>
          <p:cNvSpPr txBox="1">
            <a:spLocks/>
          </p:cNvSpPr>
          <p:nvPr/>
        </p:nvSpPr>
        <p:spPr>
          <a:xfrm>
            <a:off x="1488622" y="2508628"/>
            <a:ext cx="10515600" cy="570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Разработать мобильное приложение.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rgbClr val="9DD9B5"/>
              </a:solidFill>
            </a:endParaRP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4CBA5C36-8A05-4408-9021-1F2487B04350}"/>
              </a:ext>
            </a:extLst>
          </p:cNvPr>
          <p:cNvSpPr txBox="1">
            <a:spLocks/>
          </p:cNvSpPr>
          <p:nvPr/>
        </p:nvSpPr>
        <p:spPr>
          <a:xfrm>
            <a:off x="1488622" y="4054908"/>
            <a:ext cx="10515600" cy="546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Автоматизировать получение различной связной информации.</a:t>
            </a: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A2C0DA9D-9EAF-4E29-A1B9-70127D92A7F7}"/>
              </a:ext>
            </a:extLst>
          </p:cNvPr>
          <p:cNvSpPr txBox="1">
            <a:spLocks/>
          </p:cNvSpPr>
          <p:nvPr/>
        </p:nvSpPr>
        <p:spPr>
          <a:xfrm>
            <a:off x="1524000" y="4903791"/>
            <a:ext cx="10091057" cy="1698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Обеспечить удобный доступ к хранимой и полученной информации.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E9A796A-D94E-4D58-B0EA-0F553A3798DA}"/>
              </a:ext>
            </a:extLst>
          </p:cNvPr>
          <p:cNvSpPr/>
          <p:nvPr/>
        </p:nvSpPr>
        <p:spPr>
          <a:xfrm>
            <a:off x="10668000" y="5340260"/>
            <a:ext cx="947057" cy="2249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12285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997519-0B59-491B-A856-25B4C2F27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7A972F5-71FE-4564-980F-D0A19634E372}"/>
              </a:ext>
            </a:extLst>
          </p:cNvPr>
          <p:cNvSpPr/>
          <p:nvPr/>
        </p:nvSpPr>
        <p:spPr>
          <a:xfrm>
            <a:off x="10668000" y="-930728"/>
            <a:ext cx="947057" cy="2392892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34343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FD20E1B-1F00-46CE-B287-E65B9CB676AE}"/>
              </a:ext>
            </a:extLst>
          </p:cNvPr>
          <p:cNvSpPr/>
          <p:nvPr/>
        </p:nvSpPr>
        <p:spPr>
          <a:xfrm>
            <a:off x="576943" y="251583"/>
            <a:ext cx="11038114" cy="136549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D95CFC3-06C3-43CB-94ED-B765D24A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601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9DD9B5"/>
                </a:solidFill>
              </a:rPr>
              <a:t>Задачи 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A1504F7-66DE-4F8C-A0CB-8A8C1A54985A}"/>
              </a:ext>
            </a:extLst>
          </p:cNvPr>
          <p:cNvSpPr/>
          <p:nvPr/>
        </p:nvSpPr>
        <p:spPr>
          <a:xfrm>
            <a:off x="576943" y="2881199"/>
            <a:ext cx="12600214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DD47CC3-B214-4945-87FA-35290977D8E9}"/>
              </a:ext>
            </a:extLst>
          </p:cNvPr>
          <p:cNvSpPr/>
          <p:nvPr/>
        </p:nvSpPr>
        <p:spPr>
          <a:xfrm>
            <a:off x="582385" y="4907528"/>
            <a:ext cx="12600214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1BD539DF-D636-4541-A4D8-84BA8E041F5B}"/>
              </a:ext>
            </a:extLst>
          </p:cNvPr>
          <p:cNvSpPr txBox="1">
            <a:spLocks/>
          </p:cNvSpPr>
          <p:nvPr/>
        </p:nvSpPr>
        <p:spPr>
          <a:xfrm>
            <a:off x="625928" y="5025564"/>
            <a:ext cx="10515600" cy="1074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Создать локальную базу данных для хранения необходимых данных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rgbClr val="434343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50AB89C2-0CFB-4555-A3DF-B0CA91F59D64}"/>
              </a:ext>
            </a:extLst>
          </p:cNvPr>
          <p:cNvSpPr txBox="1">
            <a:spLocks/>
          </p:cNvSpPr>
          <p:nvPr/>
        </p:nvSpPr>
        <p:spPr>
          <a:xfrm>
            <a:off x="576943" y="2176078"/>
            <a:ext cx="10515600" cy="564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434343"/>
                </a:solidFill>
              </a:rPr>
              <a:t>Подключить интеграцию с источниками.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8AB4152F-7E49-40EC-9101-449095F564CD}"/>
              </a:ext>
            </a:extLst>
          </p:cNvPr>
          <p:cNvSpPr txBox="1">
            <a:spLocks/>
          </p:cNvSpPr>
          <p:nvPr/>
        </p:nvSpPr>
        <p:spPr>
          <a:xfrm>
            <a:off x="625928" y="4170194"/>
            <a:ext cx="10515600" cy="65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434343"/>
                </a:solidFill>
              </a:rPr>
              <a:t>Добавить автоматическое обновление информации.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rgbClr val="434343"/>
              </a:solidFill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CB8518D5-DAC1-4BDE-A5AC-858490B4B0BE}"/>
              </a:ext>
            </a:extLst>
          </p:cNvPr>
          <p:cNvSpPr txBox="1">
            <a:spLocks/>
          </p:cNvSpPr>
          <p:nvPr/>
        </p:nvSpPr>
        <p:spPr>
          <a:xfrm>
            <a:off x="625928" y="3195438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Реализовать авторизацию.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23B417AA-5A6E-4C90-9CF5-13D204E5CA90}"/>
              </a:ext>
            </a:extLst>
          </p:cNvPr>
          <p:cNvSpPr txBox="1">
            <a:spLocks/>
          </p:cNvSpPr>
          <p:nvPr/>
        </p:nvSpPr>
        <p:spPr>
          <a:xfrm>
            <a:off x="576943" y="6197574"/>
            <a:ext cx="10515600" cy="604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434343"/>
                </a:solidFill>
              </a:rPr>
              <a:t>Разработать удобный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169914728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E89FC-301C-47DA-B776-BDC00F26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1" name="Объект 20">
            <a:extLst>
              <a:ext uri="{FF2B5EF4-FFF2-40B4-BE49-F238E27FC236}">
                <a16:creationId xmlns:a16="http://schemas.microsoft.com/office/drawing/2014/main" id="{A0D52C5C-F536-4D9E-B01B-F689EE302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023" y="1825625"/>
            <a:ext cx="2775954" cy="4351338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3955AD-169E-4BFE-A0EB-A5C876A43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AF1EB53-1C1F-423E-B3CE-F48472B0569D}"/>
              </a:ext>
            </a:extLst>
          </p:cNvPr>
          <p:cNvSpPr/>
          <p:nvPr/>
        </p:nvSpPr>
        <p:spPr>
          <a:xfrm>
            <a:off x="-391885" y="4907528"/>
            <a:ext cx="10402160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ECAB270-E66C-4C9F-A56B-C83F857761C1}"/>
              </a:ext>
            </a:extLst>
          </p:cNvPr>
          <p:cNvSpPr/>
          <p:nvPr/>
        </p:nvSpPr>
        <p:spPr>
          <a:xfrm>
            <a:off x="838201" y="253091"/>
            <a:ext cx="10877921" cy="6351815"/>
          </a:xfrm>
          <a:prstGeom prst="roundRect">
            <a:avLst/>
          </a:prstGeom>
          <a:solidFill>
            <a:srgbClr val="434343">
              <a:alpha val="95000"/>
            </a:srgbClr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62430965-4DAF-418C-90E3-BE927668198F}"/>
              </a:ext>
            </a:extLst>
          </p:cNvPr>
          <p:cNvSpPr txBox="1">
            <a:spLocks/>
          </p:cNvSpPr>
          <p:nvPr/>
        </p:nvSpPr>
        <p:spPr>
          <a:xfrm>
            <a:off x="911165" y="479254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DD9B5"/>
                </a:solidFill>
              </a:rPr>
              <a:t>ER-</a:t>
            </a:r>
            <a:r>
              <a:rPr lang="ru-RU" dirty="0">
                <a:solidFill>
                  <a:srgbClr val="9DD9B5"/>
                </a:solidFill>
              </a:rPr>
              <a:t>диаграмма базы данных 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27D9349-7B72-45C1-A850-5BAFA5FF97FF}"/>
              </a:ext>
            </a:extLst>
          </p:cNvPr>
          <p:cNvSpPr/>
          <p:nvPr/>
        </p:nvSpPr>
        <p:spPr>
          <a:xfrm>
            <a:off x="-543517" y="2881199"/>
            <a:ext cx="13735422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325DE2A-32B6-4D4F-969C-AD4579847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023" y="1020932"/>
            <a:ext cx="2187573" cy="345865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0461CFB2-3F7A-4B9D-850A-D43656E3BD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070" y="445101"/>
            <a:ext cx="7415860" cy="446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86214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B45A5E-CB33-4991-A259-574C2ED1F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61714D2-0BFC-43D3-80DE-C8E528F886A5}"/>
              </a:ext>
            </a:extLst>
          </p:cNvPr>
          <p:cNvSpPr/>
          <p:nvPr/>
        </p:nvSpPr>
        <p:spPr>
          <a:xfrm>
            <a:off x="-558265" y="2881199"/>
            <a:ext cx="8097319" cy="1095601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8F3EF41-0CD3-4D92-A594-EA183069F222}"/>
              </a:ext>
            </a:extLst>
          </p:cNvPr>
          <p:cNvSpPr/>
          <p:nvPr/>
        </p:nvSpPr>
        <p:spPr>
          <a:xfrm>
            <a:off x="838201" y="253091"/>
            <a:ext cx="10877921" cy="6351815"/>
          </a:xfrm>
          <a:prstGeom prst="roundRect">
            <a:avLst/>
          </a:prstGeom>
          <a:solidFill>
            <a:srgbClr val="434343">
              <a:alpha val="95000"/>
            </a:srgbClr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C8A6A3-FB3D-4439-9D52-8617BE2048E6}"/>
              </a:ext>
            </a:extLst>
          </p:cNvPr>
          <p:cNvSpPr/>
          <p:nvPr/>
        </p:nvSpPr>
        <p:spPr>
          <a:xfrm>
            <a:off x="1883597" y="322770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DBDB2B1C-0F4E-4E0B-A666-990F7C979384}"/>
              </a:ext>
            </a:extLst>
          </p:cNvPr>
          <p:cNvSpPr txBox="1">
            <a:spLocks/>
          </p:cNvSpPr>
          <p:nvPr/>
        </p:nvSpPr>
        <p:spPr>
          <a:xfrm>
            <a:off x="2325408" y="5670361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Авторизация ЭЖ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9E58942-3AEA-4267-9175-2A3EB9C96474}"/>
              </a:ext>
            </a:extLst>
          </p:cNvPr>
          <p:cNvSpPr/>
          <p:nvPr/>
        </p:nvSpPr>
        <p:spPr>
          <a:xfrm>
            <a:off x="7273587" y="322770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C4B7C4B-55F6-4A9D-9CC7-1F035908D485}"/>
              </a:ext>
            </a:extLst>
          </p:cNvPr>
          <p:cNvSpPr txBox="1">
            <a:spLocks/>
          </p:cNvSpPr>
          <p:nvPr/>
        </p:nvSpPr>
        <p:spPr>
          <a:xfrm>
            <a:off x="7888713" y="5670362"/>
            <a:ext cx="3178260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Авторизация ТГ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D03D4E7-D99A-490B-8CB9-1F46A5305E71}"/>
              </a:ext>
            </a:extLst>
          </p:cNvPr>
          <p:cNvSpPr/>
          <p:nvPr/>
        </p:nvSpPr>
        <p:spPr>
          <a:xfrm>
            <a:off x="2427174" y="381539"/>
            <a:ext cx="2619603" cy="5288822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828ECC2-DE09-45FD-80EB-8BCE2009B72B}"/>
              </a:ext>
            </a:extLst>
          </p:cNvPr>
          <p:cNvSpPr/>
          <p:nvPr/>
        </p:nvSpPr>
        <p:spPr>
          <a:xfrm>
            <a:off x="7817164" y="381539"/>
            <a:ext cx="2619603" cy="5288822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60551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5B2DF0-4BE7-4BFF-BAC3-9424A697A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7E35925-0985-4318-B640-6CDD8CDF0455}"/>
              </a:ext>
            </a:extLst>
          </p:cNvPr>
          <p:cNvSpPr/>
          <p:nvPr/>
        </p:nvSpPr>
        <p:spPr>
          <a:xfrm>
            <a:off x="838201" y="253091"/>
            <a:ext cx="10877921" cy="6282139"/>
          </a:xfrm>
          <a:prstGeom prst="roundRect">
            <a:avLst/>
          </a:prstGeom>
          <a:solidFill>
            <a:srgbClr val="434343">
              <a:alpha val="95000"/>
            </a:srgbClr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5011F2A-DC77-4CA5-9B38-B28DAA24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166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9DD9B5"/>
                </a:solidFill>
              </a:rPr>
              <a:t>Назначение приложения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098A599-6483-4698-8962-1248C05FA3B0}"/>
              </a:ext>
            </a:extLst>
          </p:cNvPr>
          <p:cNvSpPr/>
          <p:nvPr/>
        </p:nvSpPr>
        <p:spPr>
          <a:xfrm>
            <a:off x="1159830" y="1325560"/>
            <a:ext cx="10402160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146565F-F954-44CC-9A0B-493D7230110A}"/>
              </a:ext>
            </a:extLst>
          </p:cNvPr>
          <p:cNvSpPr/>
          <p:nvPr/>
        </p:nvSpPr>
        <p:spPr>
          <a:xfrm>
            <a:off x="1159829" y="2398032"/>
            <a:ext cx="12128467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51B959F-7AD9-435F-827B-59C744085D38}"/>
              </a:ext>
            </a:extLst>
          </p:cNvPr>
          <p:cNvSpPr/>
          <p:nvPr/>
        </p:nvSpPr>
        <p:spPr>
          <a:xfrm>
            <a:off x="1159830" y="3497073"/>
            <a:ext cx="12128466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06AA6D8-B1B6-454A-A653-82CC35EFA1A1}"/>
              </a:ext>
            </a:extLst>
          </p:cNvPr>
          <p:cNvSpPr/>
          <p:nvPr/>
        </p:nvSpPr>
        <p:spPr>
          <a:xfrm>
            <a:off x="1159829" y="4592891"/>
            <a:ext cx="12528957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A450CEFD-CD01-41BE-9830-A66806A9A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78" y="1578654"/>
            <a:ext cx="10515600" cy="175031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9DD9B5"/>
                </a:solidFill>
              </a:rPr>
              <a:t>Централизация информации, относящейся к учебному процессу:</a:t>
            </a:r>
          </a:p>
          <a:p>
            <a:pPr marL="0" indent="0">
              <a:buNone/>
            </a:pPr>
            <a:endParaRPr lang="ru-RU" dirty="0">
              <a:solidFill>
                <a:srgbClr val="9DD9B5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9DD9B5"/>
                </a:solidFill>
              </a:rPr>
              <a:t>Отображение актуального расписания</a:t>
            </a:r>
          </a:p>
          <a:p>
            <a:pPr marL="0" indent="0">
              <a:buNone/>
            </a:pPr>
            <a:endParaRPr lang="ru-RU" dirty="0">
              <a:solidFill>
                <a:srgbClr val="9DD9B5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D3F013E-299C-44E1-A6F1-647D9B2EDF96}"/>
              </a:ext>
            </a:extLst>
          </p:cNvPr>
          <p:cNvSpPr txBox="1">
            <a:spLocks/>
          </p:cNvSpPr>
          <p:nvPr/>
        </p:nvSpPr>
        <p:spPr>
          <a:xfrm>
            <a:off x="1254578" y="3262510"/>
            <a:ext cx="10515600" cy="126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Сортировка и хранение заданий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rgbClr val="9DD9B5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F9820FC-FD22-44BD-ADA9-3A6FF5FEACAF}"/>
              </a:ext>
            </a:extLst>
          </p:cNvPr>
          <p:cNvSpPr txBox="1">
            <a:spLocks/>
          </p:cNvSpPr>
          <p:nvPr/>
        </p:nvSpPr>
        <p:spPr>
          <a:xfrm>
            <a:off x="1254578" y="4334978"/>
            <a:ext cx="10515600" cy="1595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Сводка прочей информации </a:t>
            </a:r>
          </a:p>
        </p:txBody>
      </p:sp>
    </p:spTree>
    <p:extLst>
      <p:ext uri="{BB962C8B-B14F-4D97-AF65-F5344CB8AC3E}">
        <p14:creationId xmlns:p14="http://schemas.microsoft.com/office/powerpoint/2010/main" val="3933338097"/>
      </p:ext>
    </p:extLst>
  </p:cSld>
  <p:clrMapOvr>
    <a:masterClrMapping/>
  </p:clrMapOvr>
  <p:transition spd="med">
    <p:pull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2097284-90D5-47D8-B9EF-BBBBB0C68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E36524E-E4BD-4A38-9F68-BB01E37ECDEE}"/>
              </a:ext>
            </a:extLst>
          </p:cNvPr>
          <p:cNvSpPr/>
          <p:nvPr/>
        </p:nvSpPr>
        <p:spPr>
          <a:xfrm>
            <a:off x="-933888" y="2398032"/>
            <a:ext cx="3101901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8B062B-B54A-4C82-A6EC-83E1A96EA159}"/>
              </a:ext>
            </a:extLst>
          </p:cNvPr>
          <p:cNvSpPr/>
          <p:nvPr/>
        </p:nvSpPr>
        <p:spPr>
          <a:xfrm>
            <a:off x="-933888" y="3497073"/>
            <a:ext cx="14118946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BA9DF27-BCBE-4C4E-9BFE-42892711E262}"/>
              </a:ext>
            </a:extLst>
          </p:cNvPr>
          <p:cNvSpPr/>
          <p:nvPr/>
        </p:nvSpPr>
        <p:spPr>
          <a:xfrm>
            <a:off x="-933887" y="4592891"/>
            <a:ext cx="8352326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010A146-96AE-40EE-8206-73B16A3BEA61}"/>
              </a:ext>
            </a:extLst>
          </p:cNvPr>
          <p:cNvSpPr/>
          <p:nvPr/>
        </p:nvSpPr>
        <p:spPr>
          <a:xfrm>
            <a:off x="838201" y="253091"/>
            <a:ext cx="10877921" cy="6282139"/>
          </a:xfrm>
          <a:prstGeom prst="roundRect">
            <a:avLst/>
          </a:prstGeom>
          <a:solidFill>
            <a:srgbClr val="434343">
              <a:alpha val="95000"/>
            </a:srgbClr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DA384B1-118A-4652-B9E6-9E1603858E28}"/>
              </a:ext>
            </a:extLst>
          </p:cNvPr>
          <p:cNvSpPr/>
          <p:nvPr/>
        </p:nvSpPr>
        <p:spPr>
          <a:xfrm>
            <a:off x="1883597" y="322770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413ACA6-BA95-4E58-9693-EC1D89EFF694}"/>
              </a:ext>
            </a:extLst>
          </p:cNvPr>
          <p:cNvSpPr/>
          <p:nvPr/>
        </p:nvSpPr>
        <p:spPr>
          <a:xfrm>
            <a:off x="7273587" y="322770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F2D615F-7450-4DE9-9942-D6F0E3D1DA4F}"/>
              </a:ext>
            </a:extLst>
          </p:cNvPr>
          <p:cNvSpPr/>
          <p:nvPr/>
        </p:nvSpPr>
        <p:spPr>
          <a:xfrm>
            <a:off x="2427173" y="516292"/>
            <a:ext cx="2619603" cy="5288822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A9E980D-23B0-438E-8BF9-C798519C4B93}"/>
              </a:ext>
            </a:extLst>
          </p:cNvPr>
          <p:cNvSpPr/>
          <p:nvPr/>
        </p:nvSpPr>
        <p:spPr>
          <a:xfrm>
            <a:off x="7817164" y="516292"/>
            <a:ext cx="2619603" cy="5288822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EBC815D0-2748-4426-9EDB-7D30969482AE}"/>
              </a:ext>
            </a:extLst>
          </p:cNvPr>
          <p:cNvSpPr txBox="1">
            <a:spLocks/>
          </p:cNvSpPr>
          <p:nvPr/>
        </p:nvSpPr>
        <p:spPr>
          <a:xfrm>
            <a:off x="1630774" y="5787631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Расписание 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CD633A4D-224E-4D68-B41D-9895CEDC5767}"/>
              </a:ext>
            </a:extLst>
          </p:cNvPr>
          <p:cNvSpPr txBox="1">
            <a:spLocks/>
          </p:cNvSpPr>
          <p:nvPr/>
        </p:nvSpPr>
        <p:spPr>
          <a:xfrm>
            <a:off x="7020764" y="5805114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Аттестации </a:t>
            </a:r>
          </a:p>
        </p:txBody>
      </p:sp>
    </p:spTree>
    <p:extLst>
      <p:ext uri="{BB962C8B-B14F-4D97-AF65-F5344CB8AC3E}">
        <p14:creationId xmlns:p14="http://schemas.microsoft.com/office/powerpoint/2010/main" val="3731297775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2097284-90D5-47D8-B9EF-BBBBB0C68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010A146-96AE-40EE-8206-73B16A3BEA61}"/>
              </a:ext>
            </a:extLst>
          </p:cNvPr>
          <p:cNvSpPr/>
          <p:nvPr/>
        </p:nvSpPr>
        <p:spPr>
          <a:xfrm>
            <a:off x="838201" y="253091"/>
            <a:ext cx="10877921" cy="7755283"/>
          </a:xfrm>
          <a:prstGeom prst="roundRect">
            <a:avLst/>
          </a:prstGeom>
          <a:solidFill>
            <a:srgbClr val="434343">
              <a:alpha val="95000"/>
            </a:srgbClr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DA384B1-118A-4652-B9E6-9E1603858E28}"/>
              </a:ext>
            </a:extLst>
          </p:cNvPr>
          <p:cNvSpPr/>
          <p:nvPr/>
        </p:nvSpPr>
        <p:spPr>
          <a:xfrm>
            <a:off x="1883597" y="322770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413ACA6-BA95-4E58-9693-EC1D89EFF694}"/>
              </a:ext>
            </a:extLst>
          </p:cNvPr>
          <p:cNvSpPr/>
          <p:nvPr/>
        </p:nvSpPr>
        <p:spPr>
          <a:xfrm>
            <a:off x="7273587" y="322770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CC14D9-E5B9-4573-B1FF-E7C387B7C891}"/>
              </a:ext>
            </a:extLst>
          </p:cNvPr>
          <p:cNvSpPr/>
          <p:nvPr/>
        </p:nvSpPr>
        <p:spPr>
          <a:xfrm>
            <a:off x="-933888" y="3497073"/>
            <a:ext cx="8647294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60DFADB-8CAA-42D8-B75F-8B96E6E46A06}"/>
              </a:ext>
            </a:extLst>
          </p:cNvPr>
          <p:cNvSpPr/>
          <p:nvPr/>
        </p:nvSpPr>
        <p:spPr>
          <a:xfrm>
            <a:off x="2427173" y="516292"/>
            <a:ext cx="2619603" cy="5288822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FEE565-9E6E-4CE9-BED8-41BB0523F481}"/>
              </a:ext>
            </a:extLst>
          </p:cNvPr>
          <p:cNvSpPr/>
          <p:nvPr/>
        </p:nvSpPr>
        <p:spPr>
          <a:xfrm>
            <a:off x="7817164" y="516292"/>
            <a:ext cx="2619603" cy="5288822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ADDB1851-5667-476E-99E8-7943F5BD1D2E}"/>
              </a:ext>
            </a:extLst>
          </p:cNvPr>
          <p:cNvSpPr txBox="1">
            <a:spLocks/>
          </p:cNvSpPr>
          <p:nvPr/>
        </p:nvSpPr>
        <p:spPr>
          <a:xfrm>
            <a:off x="1630774" y="5787631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Актуальные задания </a:t>
            </a: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472DA0BD-D8BD-4240-AD5D-BF88E07240CD}"/>
              </a:ext>
            </a:extLst>
          </p:cNvPr>
          <p:cNvSpPr txBox="1">
            <a:spLocks/>
          </p:cNvSpPr>
          <p:nvPr/>
        </p:nvSpPr>
        <p:spPr>
          <a:xfrm>
            <a:off x="7020764" y="5805114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Архивные задания </a:t>
            </a:r>
          </a:p>
        </p:txBody>
      </p:sp>
    </p:spTree>
    <p:extLst>
      <p:ext uri="{BB962C8B-B14F-4D97-AF65-F5344CB8AC3E}">
        <p14:creationId xmlns:p14="http://schemas.microsoft.com/office/powerpoint/2010/main" val="2839876849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F14A84-4585-4715-B136-51DDB0A2D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44AA25E-9F61-4E6F-A4FA-7E1DDEEF4BD0}"/>
              </a:ext>
            </a:extLst>
          </p:cNvPr>
          <p:cNvSpPr/>
          <p:nvPr/>
        </p:nvSpPr>
        <p:spPr>
          <a:xfrm>
            <a:off x="838201" y="-884903"/>
            <a:ext cx="10877921" cy="7489809"/>
          </a:xfrm>
          <a:prstGeom prst="roundRect">
            <a:avLst/>
          </a:prstGeom>
          <a:solidFill>
            <a:srgbClr val="434343">
              <a:alpha val="95000"/>
            </a:srgbClr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8B59818-9925-4517-A260-1E9CB5C8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601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9DD9B5"/>
                </a:solidFill>
              </a:rPr>
              <a:t>Проблема 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259B12B-8036-4BBD-9B91-75AB2710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07" y="1274301"/>
            <a:ext cx="6776880" cy="48895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solidFill>
                  <a:srgbClr val="9DD9B5"/>
                </a:solidFill>
              </a:rPr>
              <a:t>В данный момент информация поступает из различных источников, что принуждает отслеживать несколько ресурсов, а также запоминать некоторую часть данных или же записывать куда-либо.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9DD9B5"/>
                </a:solidFill>
              </a:rPr>
              <a:t>Это приводит к тому, что данные распыляются, из-за чего повышается риск потерь. Либо студент вручную сохраняет всю поступающую информации, что отнимает время и не избавляет от потерь из-за возможности упущения каких-либо обновлений / изменений.	</a:t>
            </a:r>
            <a:r>
              <a:rPr lang="ru-RU" dirty="0"/>
              <a:t> 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E6202F2-B1D4-4281-929A-D1A206446326}"/>
              </a:ext>
            </a:extLst>
          </p:cNvPr>
          <p:cNvSpPr/>
          <p:nvPr/>
        </p:nvSpPr>
        <p:spPr>
          <a:xfrm>
            <a:off x="7890387" y="253094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A8103E0-D76A-414D-AA06-562F598681F4}"/>
              </a:ext>
            </a:extLst>
          </p:cNvPr>
          <p:cNvSpPr/>
          <p:nvPr/>
        </p:nvSpPr>
        <p:spPr>
          <a:xfrm>
            <a:off x="8433964" y="492126"/>
            <a:ext cx="2619603" cy="5288822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7387EE56-BD84-4CD8-A4A5-66E7E3EA1F7D}"/>
              </a:ext>
            </a:extLst>
          </p:cNvPr>
          <p:cNvSpPr txBox="1">
            <a:spLocks/>
          </p:cNvSpPr>
          <p:nvPr/>
        </p:nvSpPr>
        <p:spPr>
          <a:xfrm>
            <a:off x="7637565" y="5780948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сообщения</a:t>
            </a:r>
          </a:p>
        </p:txBody>
      </p:sp>
    </p:spTree>
    <p:extLst>
      <p:ext uri="{BB962C8B-B14F-4D97-AF65-F5344CB8AC3E}">
        <p14:creationId xmlns:p14="http://schemas.microsoft.com/office/powerpoint/2010/main" val="300521043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F14A84-4585-4715-B136-51DDB0A2D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44AA25E-9F61-4E6F-A4FA-7E1DDEEF4BD0}"/>
              </a:ext>
            </a:extLst>
          </p:cNvPr>
          <p:cNvSpPr/>
          <p:nvPr/>
        </p:nvSpPr>
        <p:spPr>
          <a:xfrm>
            <a:off x="838201" y="-884903"/>
            <a:ext cx="10877921" cy="7489809"/>
          </a:xfrm>
          <a:prstGeom prst="roundRect">
            <a:avLst/>
          </a:prstGeom>
          <a:solidFill>
            <a:srgbClr val="434343">
              <a:alpha val="95000"/>
            </a:srgbClr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8B59818-9925-4517-A260-1E9CB5C8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601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9DD9B5"/>
                </a:solidFill>
              </a:rPr>
              <a:t>Аналоги 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E6202F2-B1D4-4281-929A-D1A206446326}"/>
              </a:ext>
            </a:extLst>
          </p:cNvPr>
          <p:cNvSpPr/>
          <p:nvPr/>
        </p:nvSpPr>
        <p:spPr>
          <a:xfrm>
            <a:off x="7890387" y="253094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B68C236-7854-492C-A570-AD1C49BB3224}"/>
              </a:ext>
            </a:extLst>
          </p:cNvPr>
          <p:cNvSpPr/>
          <p:nvPr/>
        </p:nvSpPr>
        <p:spPr>
          <a:xfrm>
            <a:off x="1113506" y="1274301"/>
            <a:ext cx="6657904" cy="1072766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64D6B6F-D71A-42DC-880B-209AF0ED3EA5}"/>
              </a:ext>
            </a:extLst>
          </p:cNvPr>
          <p:cNvSpPr/>
          <p:nvPr/>
        </p:nvSpPr>
        <p:spPr>
          <a:xfrm>
            <a:off x="1113507" y="2788108"/>
            <a:ext cx="6657904" cy="132556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2C22890-F80B-450A-8F73-CBB133A437D6}"/>
              </a:ext>
            </a:extLst>
          </p:cNvPr>
          <p:cNvSpPr/>
          <p:nvPr/>
        </p:nvSpPr>
        <p:spPr>
          <a:xfrm>
            <a:off x="1113507" y="4592891"/>
            <a:ext cx="6657903" cy="930943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259B12B-8036-4BBD-9B91-75AB2710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07" y="1274301"/>
            <a:ext cx="6776880" cy="48895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9DD9B5"/>
                </a:solidFill>
              </a:rPr>
              <a:t>Eljur</a:t>
            </a:r>
            <a:r>
              <a:rPr lang="ru-RU" dirty="0">
                <a:solidFill>
                  <a:srgbClr val="9DD9B5"/>
                </a:solidFill>
              </a:rPr>
              <a:t> - отображает задания и замены, но лишь по предметам, замены кабинетов и преподавателей нужно отслеживать отдельно.</a:t>
            </a:r>
          </a:p>
          <a:p>
            <a:pPr marL="0" indent="0">
              <a:buNone/>
            </a:pPr>
            <a:endParaRPr lang="ru-RU" dirty="0">
              <a:solidFill>
                <a:srgbClr val="9DD9B5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9DD9B5"/>
                </a:solidFill>
              </a:rPr>
              <a:t>Telegram - содержит все, кроме большей части заданий, а также не имеет возможности автоматического представления актуальной информации.</a:t>
            </a:r>
          </a:p>
          <a:p>
            <a:pPr marL="0" indent="0">
              <a:buNone/>
            </a:pPr>
            <a:endParaRPr lang="ru-RU" dirty="0">
              <a:solidFill>
                <a:srgbClr val="9DD9B5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9DD9B5"/>
                </a:solidFill>
              </a:rPr>
              <a:t>Заметки - удобно для списков, но необходимо вручную переносить информацию.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9DD9B5"/>
                </a:solidFill>
              </a:rPr>
              <a:t>	</a:t>
            </a:r>
            <a:r>
              <a:rPr lang="ru-RU" dirty="0"/>
              <a:t> 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2AFE4E2-A3CF-463E-BFD2-01122EB10B92}"/>
              </a:ext>
            </a:extLst>
          </p:cNvPr>
          <p:cNvSpPr txBox="1">
            <a:spLocks/>
          </p:cNvSpPr>
          <p:nvPr/>
        </p:nvSpPr>
        <p:spPr>
          <a:xfrm>
            <a:off x="7637565" y="5780948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сообщения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BCE11FB-6778-4EC2-838B-DFCFA51C4883}"/>
              </a:ext>
            </a:extLst>
          </p:cNvPr>
          <p:cNvSpPr/>
          <p:nvPr/>
        </p:nvSpPr>
        <p:spPr>
          <a:xfrm>
            <a:off x="8433964" y="492126"/>
            <a:ext cx="2619603" cy="5288822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875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F14A84-4585-4715-B136-51DDB0A2D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943" y="0"/>
            <a:ext cx="12850586" cy="685800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8B59818-9925-4517-A260-1E9CB5C8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828" y="179351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434343"/>
                </a:solidFill>
              </a:rPr>
              <a:t>Технологический стек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E6202F2-B1D4-4281-929A-D1A206446326}"/>
              </a:ext>
            </a:extLst>
          </p:cNvPr>
          <p:cNvSpPr/>
          <p:nvPr/>
        </p:nvSpPr>
        <p:spPr>
          <a:xfrm>
            <a:off x="7890387" y="253094"/>
            <a:ext cx="3706758" cy="5910707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B68C236-7854-492C-A570-AD1C49BB3224}"/>
              </a:ext>
            </a:extLst>
          </p:cNvPr>
          <p:cNvSpPr/>
          <p:nvPr/>
        </p:nvSpPr>
        <p:spPr>
          <a:xfrm>
            <a:off x="1113506" y="1274301"/>
            <a:ext cx="6657904" cy="4889500"/>
          </a:xfrm>
          <a:prstGeom prst="roundRect">
            <a:avLst/>
          </a:prstGeom>
          <a:solidFill>
            <a:srgbClr val="434343"/>
          </a:solid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259B12B-8036-4BBD-9B91-75AB2710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828" y="1815395"/>
            <a:ext cx="6553582" cy="3990873"/>
          </a:xfrm>
        </p:spPr>
        <p:txBody>
          <a:bodyPr>
            <a:normAutofit fontScale="92500" lnSpcReduction="1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ru-RU" sz="2800" dirty="0">
                <a:solidFill>
                  <a:srgbClr val="9DD9B5"/>
                </a:solidFill>
              </a:rPr>
              <a:t>Язык разработки: </a:t>
            </a:r>
            <a:r>
              <a:rPr lang="en-US" sz="2800" dirty="0">
                <a:solidFill>
                  <a:srgbClr val="9DD9B5"/>
                </a:solidFill>
              </a:rPr>
              <a:t>Kotlin</a:t>
            </a:r>
            <a:r>
              <a:rPr lang="ru-RU" sz="2800" dirty="0">
                <a:solidFill>
                  <a:srgbClr val="9DD9B5"/>
                </a:solidFill>
              </a:rPr>
              <a:t> / </a:t>
            </a:r>
            <a:r>
              <a:rPr lang="en-US" sz="2800" dirty="0">
                <a:solidFill>
                  <a:srgbClr val="9DD9B5"/>
                </a:solidFill>
              </a:rPr>
              <a:t>Java </a:t>
            </a:r>
            <a:endParaRPr lang="ru-RU" sz="2800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800" dirty="0">
                <a:solidFill>
                  <a:srgbClr val="9DD9B5"/>
                </a:solidFill>
              </a:rPr>
              <a:t>База данных: </a:t>
            </a:r>
            <a:r>
              <a:rPr lang="en-US" sz="2800" dirty="0">
                <a:solidFill>
                  <a:srgbClr val="9DD9B5"/>
                </a:solidFill>
              </a:rPr>
              <a:t>SQLite </a:t>
            </a:r>
            <a:endParaRPr lang="ru-RU" sz="2800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sz="2800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9DD9B5"/>
                </a:solidFill>
              </a:rPr>
              <a:t>API </a:t>
            </a:r>
            <a:r>
              <a:rPr lang="ru-RU" sz="2800" dirty="0">
                <a:solidFill>
                  <a:srgbClr val="9DD9B5"/>
                </a:solidFill>
              </a:rPr>
              <a:t>и </a:t>
            </a:r>
            <a:r>
              <a:rPr lang="ru-RU" sz="2800" dirty="0" err="1">
                <a:solidFill>
                  <a:srgbClr val="9DD9B5"/>
                </a:solidFill>
              </a:rPr>
              <a:t>парсинг</a:t>
            </a:r>
            <a:r>
              <a:rPr lang="ru-RU" sz="2800" dirty="0">
                <a:solidFill>
                  <a:srgbClr val="9DD9B5"/>
                </a:solidFill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9DD9B5"/>
                </a:solidFill>
              </a:rPr>
              <a:t>Telegram API</a:t>
            </a:r>
            <a:endParaRPr lang="ru-RU" sz="2800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800" dirty="0">
                <a:solidFill>
                  <a:srgbClr val="9DD9B5"/>
                </a:solidFill>
              </a:rPr>
              <a:t>Электронный журнал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2800" dirty="0">
              <a:solidFill>
                <a:srgbClr val="9DD9B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800" dirty="0">
                <a:solidFill>
                  <a:srgbClr val="9DD9B5"/>
                </a:solidFill>
              </a:rPr>
              <a:t>Интерфейс: </a:t>
            </a:r>
            <a:r>
              <a:rPr lang="ru-RU" sz="2800" dirty="0" err="1">
                <a:solidFill>
                  <a:srgbClr val="9DD9B5"/>
                </a:solidFill>
              </a:rPr>
              <a:t>Jetpack</a:t>
            </a:r>
            <a:r>
              <a:rPr lang="ru-RU" sz="2800" dirty="0">
                <a:solidFill>
                  <a:srgbClr val="9DD9B5"/>
                </a:solidFill>
              </a:rPr>
              <a:t> </a:t>
            </a:r>
            <a:r>
              <a:rPr lang="ru-RU" sz="2800" dirty="0" err="1">
                <a:solidFill>
                  <a:srgbClr val="9DD9B5"/>
                </a:solidFill>
              </a:rPr>
              <a:t>Compose</a:t>
            </a:r>
            <a:endParaRPr lang="ru-RU" dirty="0">
              <a:solidFill>
                <a:srgbClr val="434343"/>
              </a:solidFill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1DB79682-E547-46A8-8C10-53E0C5A93BC6}"/>
              </a:ext>
            </a:extLst>
          </p:cNvPr>
          <p:cNvSpPr txBox="1">
            <a:spLocks/>
          </p:cNvSpPr>
          <p:nvPr/>
        </p:nvSpPr>
        <p:spPr>
          <a:xfrm>
            <a:off x="7637565" y="5780948"/>
            <a:ext cx="4212402" cy="6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solidFill>
                  <a:srgbClr val="9DD9B5"/>
                </a:solidFill>
              </a:rPr>
              <a:t>Заметки 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8A1D76E-2C89-46A2-817B-D70CDBD1D62B}"/>
              </a:ext>
            </a:extLst>
          </p:cNvPr>
          <p:cNvSpPr/>
          <p:nvPr/>
        </p:nvSpPr>
        <p:spPr>
          <a:xfrm>
            <a:off x="8433964" y="492126"/>
            <a:ext cx="2619603" cy="5288822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43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118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250</Words>
  <Application>Microsoft Office PowerPoint</Application>
  <PresentationFormat>Широкоэкранный</PresentationFormat>
  <Paragraphs>55</Paragraphs>
  <Slides>11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Индивидуальный проект по мобильной разработке  «EIC»</vt:lpstr>
      <vt:lpstr>Презентация PowerPoint</vt:lpstr>
      <vt:lpstr>Задачи </vt:lpstr>
      <vt:lpstr>Презентация PowerPoint</vt:lpstr>
      <vt:lpstr>Презентация PowerPoint</vt:lpstr>
      <vt:lpstr>Назначение приложения</vt:lpstr>
      <vt:lpstr>Презентация PowerPoint</vt:lpstr>
      <vt:lpstr>Презентация PowerPoint</vt:lpstr>
      <vt:lpstr>Проблема </vt:lpstr>
      <vt:lpstr>Аналоги </vt:lpstr>
      <vt:lpstr>Технологический стек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 по мобильной разработке  «EIC»</dc:title>
  <dc:creator>Егорова Алиса Алексеевна</dc:creator>
  <cp:lastModifiedBy>Егорова Алиса Алексеевна</cp:lastModifiedBy>
  <cp:revision>19</cp:revision>
  <dcterms:created xsi:type="dcterms:W3CDTF">2025-12-10T12:38:15Z</dcterms:created>
  <dcterms:modified xsi:type="dcterms:W3CDTF">2025-12-10T17:34:37Z</dcterms:modified>
</cp:coreProperties>
</file>